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344" r:id="rId2"/>
    <p:sldId id="345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70" r:id="rId13"/>
    <p:sldId id="355" r:id="rId14"/>
    <p:sldId id="356" r:id="rId15"/>
    <p:sldId id="357" r:id="rId16"/>
    <p:sldId id="358" r:id="rId17"/>
    <p:sldId id="359" r:id="rId18"/>
    <p:sldId id="360" r:id="rId19"/>
    <p:sldId id="361" r:id="rId20"/>
    <p:sldId id="362" r:id="rId21"/>
    <p:sldId id="363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562" autoAdjust="0"/>
  </p:normalViewPr>
  <p:slideViewPr>
    <p:cSldViewPr snapToGrid="0" snapToObjects="1">
      <p:cViewPr>
        <p:scale>
          <a:sx n="76" d="100"/>
          <a:sy n="76" d="100"/>
        </p:scale>
        <p:origin x="1000" y="-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2C64E0-BC05-44FF-81E8-0FFCA51D5AF2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B261C5-05B9-4447-8334-11E624D37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394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457200" y="3086100"/>
            <a:ext cx="8229600" cy="3086100"/>
          </a:xfrm>
        </p:spPr>
        <p:txBody>
          <a:bodyPr/>
          <a:lstStyle/>
          <a:p>
            <a:r>
              <a:rPr lang="en-US" dirty="0"/>
              <a:t>Good afternoon. I'm Nehal Ojha, and I'll be presenting my MCA major project, Retail Marketing Optimization Systems, a customer shopping-behaviour analytics platform built with Python, SQL and Power BI.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457200" y="3086100"/>
            <a:ext cx="8229600" cy="3086100"/>
          </a:xfrm>
        </p:spPr>
        <p:txBody>
          <a:bodyPr/>
          <a:lstStyle/>
          <a:p>
            <a:r>
              <a:rPr lang="en-US" dirty="0"/>
              <a:t>This project is a complete end-to-end analytics system. It takes raw retail transaction data, around 3,900 customer records, and turns it into business intelligence using three integrated tools. The aim is to enable data-driven decisions.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Retailers face four core problems: very high daily transaction volumes, difficulty spotting profitable customers, manual analysis that is too slow, and business trends that stay hidden. These challenges motivated my project.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solution chains three technologies. Python cleans and preprocesses the data, SQL stores and queries it efficiently, and Power BI visualises it. Together they produce actionable business intelligence.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has five stages: a CSV data source, Python processing, SQL storage, SQL analytics, and Power BI visualisation, ending in business insights. Each stage feeds the next.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backend I used Python with Pandas, NumPy and Matplotlib, plus a relational SQL database. On the frontend, Power BI dashboards, supported by Jupyter Notebook, Git version control and SQLAlchemy.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has 3,900 records across 18 columns, with only 37 missing values and a size of about 549 kilobytes. It mixes numeric and categorical fields such as demographics, product categories and payment methods.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normalised the data to third normal form using two tables, CUSTOMER and PURCHASE, linked one-to-many through a foreign key. This removes redundancy and maintains referential integrity.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processing follows six steps: import, explore, clean, transform, validate and store. All 3,900 records were cleaned and structured, ready for analysis.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exploratory analysis I ran descriptive statistics, correlation and distribution analysis. Key findings: young and middle-aged shoppers dominate, clothing is the top category at over 40 percent of revenue, and the average purchase is about 58 dollars.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wrote five business queries in SQL to answer core questions: total customers, average purchase value, top categories, payment preferences, and age distribution.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wrote five business queries in SQL to answer core questions: total customers, average purchase value, top categories, payment preferences, and age distribution.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457200" y="3086100"/>
            <a:ext cx="8229600" cy="3086100"/>
          </a:xfrm>
        </p:spPr>
        <p:txBody>
          <a:bodyPr/>
          <a:lstStyle/>
          <a:p>
            <a:r>
              <a:rPr lang="en-US" dirty="0"/>
              <a:t>The dashboard produced three insight areas. Segmentation shows young and middle-aged customers drive about 60 percent of purchases; revenue analysis confirms clothing leads; and I made strategic recommendations on inventory, targeting and payment infrastructure.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457200" y="3086100"/>
            <a:ext cx="8229600" cy="3086100"/>
          </a:xfrm>
        </p:spPr>
        <p:txBody>
          <a:bodyPr/>
          <a:lstStyle/>
          <a:p>
            <a:r>
              <a:rPr lang="en-US" dirty="0"/>
              <a:t>To summarise achievements: a complete end-to-end pipeline, 3,900 records processed, a third-normal-form schema, five SQL business queries, interactive Power BI dashboards, and actionable insights, all following industry-standard practices.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457200" y="3086100"/>
            <a:ext cx="8229600" cy="3086100"/>
          </a:xfrm>
        </p:spPr>
        <p:txBody>
          <a:bodyPr/>
          <a:lstStyle/>
          <a:p>
            <a:r>
              <a:rPr lang="en-US" dirty="0"/>
              <a:t>This slide shows the full ten-step workflow, from data collection through Python processing, cleaning and analysis, to the SQL database, dashboards, business insights and strategic recommendations.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457200" y="3086100"/>
            <a:ext cx="8229600" cy="3086100"/>
          </a:xfrm>
        </p:spPr>
        <p:txBody>
          <a:bodyPr/>
          <a:lstStyle/>
          <a:p>
            <a:r>
              <a:rPr lang="en-US" dirty="0"/>
              <a:t>Through this project I built technical skills in Python data science, database technologies and business intelligence, along with professional skills in data storytelling, documentation and end-to-end project delivery.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457200" y="3086100"/>
            <a:ext cx="8229600" cy="3086100"/>
          </a:xfrm>
        </p:spPr>
        <p:txBody>
          <a:bodyPr/>
          <a:lstStyle/>
          <a:p>
            <a:r>
              <a:rPr lang="en-US" dirty="0"/>
              <a:t>Looking ahead, the system can be extended with machine learning for prediction, real-time streaming analytics, cloud deployment on AWS or Azure, natural-language queries, advanced analytics, and enterprise-scale data warehousing.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457200" y="3086100"/>
            <a:ext cx="8229600" cy="3086100"/>
          </a:xfrm>
        </p:spPr>
        <p:txBody>
          <a:bodyPr/>
          <a:lstStyle/>
          <a:p>
            <a:r>
              <a:rPr lang="en-US" dirty="0"/>
              <a:t>I chose this stack deliberately: Python over R for accessibility, SQL over NoSQL for structured data, and Power BI over Tableau for tighter Microsoft-ecosystem integration.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457200" y="3086100"/>
            <a:ext cx="8229600" cy="3086100"/>
          </a:xfrm>
        </p:spPr>
        <p:txBody>
          <a:bodyPr/>
          <a:lstStyle/>
          <a:p>
            <a:r>
              <a:rPr lang="en-US" dirty="0"/>
              <a:t>In conclusion, the project delivers a complete analytics workflow that turns raw data into decisions, follows industry standards, and provides a foundation for enterprise-scale solutions.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457200" y="3086100"/>
            <a:ext cx="8229600" cy="3086100"/>
          </a:xfrm>
        </p:spPr>
        <p:txBody>
          <a:bodyPr/>
          <a:lstStyle/>
          <a:p>
            <a:r>
              <a:rPr lang="en-US" dirty="0"/>
              <a:t>All project resources are listed here: the GitHub repository, a reference video, the complete report, source code, and the datasets, all available for your verification.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457200" y="3086100"/>
            <a:ext cx="8229600" cy="3086100"/>
          </a:xfrm>
        </p:spPr>
        <p:txBody>
          <a:bodyPr/>
          <a:lstStyle/>
          <a:p>
            <a:r>
              <a:rPr lang="en-US" dirty="0"/>
              <a:t>That brings me to the end of my presentation. Thank you for your attention. I would be glad to answer any questions you may have.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1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2.svg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4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3A5F"/>
            </a:gs>
            <a:gs pos="100000">
              <a:srgbClr val="14273F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302005" cy="6858000"/>
          </a:xfrm>
          <a:prstGeom prst="rect">
            <a:avLst/>
          </a:prstGeom>
          <a:solidFill>
            <a:srgbClr val="34A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rPr dirty="0"/>
              <a:t>Retail Marketing</a:t>
            </a:r>
            <a:br>
              <a:rPr dirty="0"/>
            </a:br>
            <a:r>
              <a:rPr dirty="0"/>
              <a:t>Optimization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34A8DB"/>
                </a:solidFill>
              </a:defRPr>
            </a:pPr>
            <a:r>
              <a:t>Customer Shopping Behavior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Python • SQL • Power BI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MCA Major Project | Chandigarh University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Nehal Ojha | Roll No: O24MCA110853 | June 2026</a:t>
            </a:r>
          </a:p>
        </p:txBody>
      </p:sp>
    </p:spTree>
    <p:extLst>
      <p:ext uri="{BB962C8B-B14F-4D97-AF65-F5344CB8AC3E}">
        <p14:creationId xmlns:p14="http://schemas.microsoft.com/office/powerpoint/2010/main" val="2492764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 w="254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73152" cy="5303520"/>
          </a:xfrm>
          <a:prstGeom prst="rect">
            <a:avLst/>
          </a:prstGeom>
          <a:solidFill>
            <a:srgbClr val="34A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rPr dirty="0"/>
              <a:t>✓ Complete end-to-end customer shopping behavior analysis system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rPr dirty="0"/>
              <a:t>✓ Integrates three powerful technologies: Python, SQL, and Power BI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rPr dirty="0"/>
              <a:t>✓ Transforms raw retail transaction data into actionable BI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rPr dirty="0"/>
              <a:t>✓ Demonstrates practical data analytics workflow for industry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rPr dirty="0"/>
              <a:t>✓ Enables data-driven decision-making through dashboards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rPr dirty="0"/>
              <a:t>✓ Processes 3,900+ customer records effectively</a:t>
            </a:r>
          </a:p>
        </p:txBody>
      </p:sp>
    </p:spTree>
    <p:extLst>
      <p:ext uri="{BB962C8B-B14F-4D97-AF65-F5344CB8AC3E}">
        <p14:creationId xmlns:p14="http://schemas.microsoft.com/office/powerpoint/2010/main" val="1104092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206500"/>
            <a:ext cx="3556000" cy="24765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4A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6800" y="2413000"/>
            <a:ext cx="3048000" cy="107950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Massive Data</a:t>
            </a:r>
          </a:p>
          <a:p>
            <a:pPr algn="ctr">
              <a:buNone/>
            </a:pPr>
            <a:r>
              <a:rPr lang="en-US" sz="1400" dirty="0">
                <a:solidFill>
                  <a:srgbClr val="646464"/>
                </a:solidFill>
              </a:rPr>
              <a:t>3,000+ transactions every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75200" y="1206500"/>
            <a:ext cx="3556000" cy="24765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4A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0" y="2413000"/>
            <a:ext cx="3048000" cy="107950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Segmentation</a:t>
            </a:r>
          </a:p>
          <a:p>
            <a:pPr algn="ctr">
              <a:buNone/>
            </a:pPr>
            <a:r>
              <a:rPr lang="en-US" sz="1400" dirty="0">
                <a:solidFill>
                  <a:srgbClr val="646464"/>
                </a:solidFill>
              </a:rPr>
              <a:t>Hard to spot profitable 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3937000"/>
            <a:ext cx="3556000" cy="24765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4A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6800" y="5143500"/>
            <a:ext cx="3048000" cy="107950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Speed</a:t>
            </a:r>
          </a:p>
          <a:p>
            <a:pPr algn="ctr">
              <a:buNone/>
            </a:pPr>
            <a:r>
              <a:rPr lang="en-US" sz="1400" dirty="0">
                <a:solidFill>
                  <a:srgbClr val="646464"/>
                </a:solidFill>
              </a:rPr>
              <a:t>Manual analysis is too slow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200" y="3937000"/>
            <a:ext cx="3556000" cy="24765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4A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5143500"/>
            <a:ext cx="3048000" cy="107950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Insights</a:t>
            </a:r>
          </a:p>
          <a:p>
            <a:pPr algn="ctr">
              <a:buNone/>
            </a:pPr>
            <a:r>
              <a:rPr lang="en-US" sz="1400" dirty="0">
                <a:solidFill>
                  <a:srgbClr val="646464"/>
                </a:solidFill>
              </a:rPr>
              <a:t>Business trends stay hidden</a:t>
            </a:r>
          </a:p>
        </p:txBody>
      </p:sp>
      <p:pic>
        <p:nvPicPr>
          <p:cNvPr id="11" name="Graphic 11" descr="Databas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5200" y="1524000"/>
            <a:ext cx="711200" cy="711200"/>
          </a:xfrm>
          <a:prstGeom prst="rect">
            <a:avLst/>
          </a:prstGeom>
        </p:spPr>
      </p:pic>
      <p:pic>
        <p:nvPicPr>
          <p:cNvPr id="12" name="Graphic 12" descr="Target audienc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7600" y="1524000"/>
            <a:ext cx="711200" cy="711200"/>
          </a:xfrm>
          <a:prstGeom prst="rect">
            <a:avLst/>
          </a:prstGeom>
        </p:spPr>
      </p:pic>
      <p:pic>
        <p:nvPicPr>
          <p:cNvPr id="13" name="Graphic 13" descr="Clock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35200" y="4254500"/>
            <a:ext cx="711200" cy="711200"/>
          </a:xfrm>
          <a:prstGeom prst="rect">
            <a:avLst/>
          </a:prstGeom>
        </p:spPr>
      </p:pic>
      <p:pic>
        <p:nvPicPr>
          <p:cNvPr id="14" name="Graphic 14" descr="Lightbulb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7600" y="4254500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88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0C4E9B6-4B8D-4150-8D57-3833696B9E9D}"/>
              </a:ext>
            </a:extLst>
          </p:cNvPr>
          <p:cNvSpPr/>
          <p:nvPr/>
        </p:nvSpPr>
        <p:spPr>
          <a:xfrm>
            <a:off x="6781800" y="1905000"/>
            <a:ext cx="1905000" cy="3175000"/>
          </a:xfrm>
          <a:prstGeom prst="roundRect">
            <a:avLst/>
          </a:prstGeom>
          <a:solidFill>
            <a:srgbClr val="1F3A5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A3C894-E6BB-47F0-B44B-C8BB7A859B05}"/>
              </a:ext>
            </a:extLst>
          </p:cNvPr>
          <p:cNvSpPr/>
          <p:nvPr/>
        </p:nvSpPr>
        <p:spPr>
          <a:xfrm>
            <a:off x="4673600" y="1905000"/>
            <a:ext cx="1905000" cy="31750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63F496-305E-4C58-8341-43EE2239C528}"/>
              </a:ext>
            </a:extLst>
          </p:cNvPr>
          <p:cNvSpPr/>
          <p:nvPr/>
        </p:nvSpPr>
        <p:spPr>
          <a:xfrm>
            <a:off x="2565400" y="1905000"/>
            <a:ext cx="1905000" cy="31750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C77AB36-8AA5-4C9C-9B3E-C282F0FCECA7}"/>
              </a:ext>
            </a:extLst>
          </p:cNvPr>
          <p:cNvSpPr/>
          <p:nvPr/>
        </p:nvSpPr>
        <p:spPr>
          <a:xfrm>
            <a:off x="457200" y="1905000"/>
            <a:ext cx="1905000" cy="31750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3302000"/>
            <a:ext cx="1752600" cy="38100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>
              <a:defRPr sz="2000" b="1">
                <a:solidFill>
                  <a:srgbClr val="1F3A5F"/>
                </a:solidFill>
              </a:defRPr>
            </a:pPr>
            <a:r>
              <a:rPr b="1">
                <a:solidFill>
                  <a:srgbClr val="1F3A5F"/>
                </a:solidFill>
              </a:rP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3708400"/>
            <a:ext cx="1752600" cy="120650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rPr sz="1400">
                <a:solidFill>
                  <a:srgbClr val="646464"/>
                </a:solidFill>
              </a:rPr>
              <a:t>Data cleaning &amp;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1600" y="3302000"/>
            <a:ext cx="1752600" cy="38100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>
              <a:defRPr sz="2000" b="1">
                <a:solidFill>
                  <a:srgbClr val="1F3A5F"/>
                </a:solidFill>
              </a:defRPr>
            </a:pPr>
            <a:r>
              <a:rPr b="1">
                <a:solidFill>
                  <a:srgbClr val="1F3A5F"/>
                </a:solidFill>
              </a:rPr>
              <a:t>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1600" y="3708400"/>
            <a:ext cx="1752600" cy="120650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rPr sz="1400">
                <a:solidFill>
                  <a:srgbClr val="646464"/>
                </a:solidFill>
              </a:rPr>
              <a:t>Efficient data storage &amp;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9800" y="3302000"/>
            <a:ext cx="1752600" cy="38100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>
              <a:defRPr sz="2000" b="1">
                <a:solidFill>
                  <a:srgbClr val="1F3A5F"/>
                </a:solidFill>
              </a:defRPr>
            </a:pPr>
            <a:r>
              <a:rPr b="1">
                <a:solidFill>
                  <a:srgbClr val="1F3A5F"/>
                </a:solidFill>
              </a:rPr>
              <a:t>Power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9800" y="3708400"/>
            <a:ext cx="1752600" cy="120650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rPr sz="1400">
                <a:solidFill>
                  <a:srgbClr val="646464"/>
                </a:solidFill>
              </a:rPr>
              <a:t>Interactive dashboards &amp;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302000"/>
            <a:ext cx="1752600" cy="38100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>
              <a:defRPr sz="2000" b="1">
                <a:solidFill>
                  <a:srgbClr val="1F3A5F"/>
                </a:solidFill>
              </a:defRPr>
            </a:pPr>
            <a:r>
              <a:rPr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708400"/>
            <a:ext cx="1752600" cy="120650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rPr sz="1400">
                <a:solidFill>
                  <a:srgbClr val="FFFFFF"/>
                </a:solidFill>
              </a:rPr>
              <a:t>Actionable business intelligence</a:t>
            </a:r>
          </a:p>
        </p:txBody>
      </p:sp>
      <p:pic>
        <p:nvPicPr>
          <p:cNvPr id="19" name="Graphic 19" descr="Filter icon for Pyth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00" y="2349500"/>
            <a:ext cx="711200" cy="711200"/>
          </a:xfrm>
          <a:prstGeom prst="rect">
            <a:avLst/>
          </a:prstGeom>
        </p:spPr>
      </p:pic>
      <p:pic>
        <p:nvPicPr>
          <p:cNvPr id="20" name="Graphic 20" descr="Database icon for SQ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2300" y="2349500"/>
            <a:ext cx="711200" cy="711200"/>
          </a:xfrm>
          <a:prstGeom prst="rect">
            <a:avLst/>
          </a:prstGeom>
        </p:spPr>
      </p:pic>
      <p:pic>
        <p:nvPicPr>
          <p:cNvPr id="21" name="Graphic 21" descr="Bar chart icon for Power B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70500" y="2349500"/>
            <a:ext cx="711200" cy="711200"/>
          </a:xfrm>
          <a:prstGeom prst="rect">
            <a:avLst/>
          </a:prstGeom>
        </p:spPr>
      </p:pic>
      <p:pic>
        <p:nvPicPr>
          <p:cNvPr id="22" name="Graphic 22" descr="Trophy icon for Resul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8700" y="2349500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84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41500"/>
            <a:ext cx="1422400" cy="16510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8000" y="2451100"/>
            <a:ext cx="1320800" cy="53860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3A5F"/>
                </a:solidFill>
              </a:rPr>
              <a:t>Data Source</a:t>
            </a:r>
          </a:p>
          <a:p>
            <a:pPr algn="ctr"/>
            <a:r>
              <a:rPr lang="en-US" sz="1400" dirty="0">
                <a:solidFill>
                  <a:srgbClr val="646464"/>
                </a:solidFill>
              </a:rPr>
              <a:t>CSV Files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79600" y="2667000"/>
            <a:ext cx="279400" cy="0"/>
          </a:xfrm>
          <a:prstGeom prst="line">
            <a:avLst/>
          </a:prstGeom>
          <a:ln w="25400" cap="flat" cmpd="sng" algn="ctr">
            <a:solidFill>
              <a:srgbClr val="34A8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159000" y="1841500"/>
            <a:ext cx="1422400" cy="16510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09800" y="2451100"/>
            <a:ext cx="1320800" cy="53860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3A5F"/>
                </a:solidFill>
              </a:rPr>
              <a:t>Processing</a:t>
            </a:r>
          </a:p>
          <a:p>
            <a:pPr algn="ctr"/>
            <a:r>
              <a:rPr lang="en-US" sz="1400" dirty="0">
                <a:solidFill>
                  <a:srgbClr val="646464"/>
                </a:solidFill>
              </a:rPr>
              <a:t>Python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81400" y="2667000"/>
            <a:ext cx="279400" cy="0"/>
          </a:xfrm>
          <a:prstGeom prst="line">
            <a:avLst/>
          </a:prstGeom>
          <a:ln w="25400" cap="flat" cmpd="sng" algn="ctr">
            <a:solidFill>
              <a:srgbClr val="34A8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60800" y="1841500"/>
            <a:ext cx="1422400" cy="16510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11600" y="2451100"/>
            <a:ext cx="1320800" cy="53860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3A5F"/>
                </a:solidFill>
              </a:rPr>
              <a:t>Storage</a:t>
            </a:r>
          </a:p>
          <a:p>
            <a:pPr algn="ctr"/>
            <a:r>
              <a:rPr lang="en-US" sz="1400" dirty="0">
                <a:solidFill>
                  <a:srgbClr val="646464"/>
                </a:solidFill>
              </a:rPr>
              <a:t>SQL Database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83200" y="2667000"/>
            <a:ext cx="279400" cy="0"/>
          </a:xfrm>
          <a:prstGeom prst="line">
            <a:avLst/>
          </a:prstGeom>
          <a:ln w="25400" cap="flat" cmpd="sng" algn="ctr">
            <a:solidFill>
              <a:srgbClr val="34A8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62600" y="1841500"/>
            <a:ext cx="1422400" cy="16510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13400" y="2451100"/>
            <a:ext cx="1320800" cy="53860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3A5F"/>
                </a:solidFill>
              </a:rPr>
              <a:t>Analytics</a:t>
            </a:r>
          </a:p>
          <a:p>
            <a:pPr algn="ctr"/>
            <a:r>
              <a:rPr lang="en-US" sz="1400" dirty="0">
                <a:solidFill>
                  <a:srgbClr val="646464"/>
                </a:solidFill>
              </a:rPr>
              <a:t>SQL Queries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85000" y="2667000"/>
            <a:ext cx="279400" cy="0"/>
          </a:xfrm>
          <a:prstGeom prst="line">
            <a:avLst/>
          </a:prstGeom>
          <a:ln w="25400" cap="flat" cmpd="sng" algn="ctr">
            <a:solidFill>
              <a:srgbClr val="34A8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64400" y="1841500"/>
            <a:ext cx="1422400" cy="16510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2451100"/>
            <a:ext cx="1320800" cy="53860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3A5F"/>
                </a:solidFill>
              </a:rPr>
              <a:t>Visualization</a:t>
            </a:r>
          </a:p>
          <a:p>
            <a:pPr algn="ctr"/>
            <a:r>
              <a:rPr lang="en-US" sz="1400" dirty="0">
                <a:solidFill>
                  <a:srgbClr val="646464"/>
                </a:solidFill>
              </a:rPr>
              <a:t>Power 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318000"/>
            <a:ext cx="6400800" cy="1092200"/>
          </a:xfrm>
          <a:prstGeom prst="roundRect">
            <a:avLst/>
          </a:prstGeom>
          <a:solidFill>
            <a:srgbClr val="1F3A5F"/>
          </a:solidFill>
          <a:ln w="254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52619" y="4664045"/>
            <a:ext cx="3438762" cy="400110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✓ Actionable Business Insights</a:t>
            </a:r>
          </a:p>
        </p:txBody>
      </p:sp>
      <p:pic>
        <p:nvPicPr>
          <p:cNvPr id="19" name="Graphic 19" descr="Data sour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905000"/>
            <a:ext cx="508000" cy="508000"/>
          </a:xfrm>
          <a:prstGeom prst="rect">
            <a:avLst/>
          </a:prstGeom>
        </p:spPr>
      </p:pic>
      <p:pic>
        <p:nvPicPr>
          <p:cNvPr id="20" name="Graphic 20" descr="Process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16200" y="1905000"/>
            <a:ext cx="508000" cy="508000"/>
          </a:xfrm>
          <a:prstGeom prst="rect">
            <a:avLst/>
          </a:prstGeom>
        </p:spPr>
      </p:pic>
      <p:pic>
        <p:nvPicPr>
          <p:cNvPr id="21" name="Graphic 21" descr="Stor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8000" y="1905000"/>
            <a:ext cx="508000" cy="508000"/>
          </a:xfrm>
          <a:prstGeom prst="rect">
            <a:avLst/>
          </a:prstGeom>
        </p:spPr>
      </p:pic>
      <p:pic>
        <p:nvPicPr>
          <p:cNvPr id="22" name="Graphic 22" descr="Analytic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9800" y="1905000"/>
            <a:ext cx="508000" cy="508000"/>
          </a:xfrm>
          <a:prstGeom prst="rect">
            <a:avLst/>
          </a:prstGeom>
        </p:spPr>
      </p:pic>
      <p:pic>
        <p:nvPicPr>
          <p:cNvPr id="23" name="Graphic 23" descr="Visualiz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21600" y="1905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12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A5F"/>
                </a:solidFill>
              </a:defRPr>
            </a:pPr>
            <a:r>
              <a:t>Backend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70000"/>
            <a:ext cx="3931920" cy="508000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Python 3.x</a:t>
            </a:r>
          </a:p>
          <a:p>
            <a:pPr marL="285750" indent="-285750">
              <a:spcAft>
                <a:spcPts val="15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Pandas — Data manipulation</a:t>
            </a:r>
          </a:p>
          <a:p>
            <a:pPr marL="285750" indent="-285750">
              <a:spcAft>
                <a:spcPts val="15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NumPy — Numerical computing</a:t>
            </a:r>
          </a:p>
          <a:p>
            <a:pPr marL="285750" indent="-285750">
              <a:spcAft>
                <a:spcPts val="15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Matplotlib / Seaborn — Visualization</a:t>
            </a:r>
          </a:p>
          <a:p>
            <a:pPr>
              <a:spcBef>
                <a:spcPts val="3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SQL Database</a:t>
            </a:r>
          </a:p>
          <a:p>
            <a:pPr marL="285750" indent="-285750">
              <a:spcAft>
                <a:spcPts val="15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PostgreSQL / MySQL 8.x</a:t>
            </a:r>
          </a:p>
          <a:p>
            <a:pPr marL="285750" indent="-285750">
              <a:spcAft>
                <a:spcPts val="15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Relational data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A5F"/>
                </a:solidFill>
              </a:defRPr>
            </a:pPr>
            <a:r>
              <a:t>Frontend &amp;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70000"/>
            <a:ext cx="3931920" cy="508000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Power BI</a:t>
            </a:r>
          </a:p>
          <a:p>
            <a:pPr marL="285750" indent="-285750">
              <a:spcAft>
                <a:spcPts val="15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Interactive dashboards</a:t>
            </a:r>
          </a:p>
          <a:p>
            <a:pPr marL="285750" indent="-285750">
              <a:spcAft>
                <a:spcPts val="15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Real-time visualization</a:t>
            </a:r>
          </a:p>
          <a:p>
            <a:pPr marL="285750" indent="-285750">
              <a:spcAft>
                <a:spcPts val="15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Business insights</a:t>
            </a:r>
          </a:p>
          <a:p>
            <a:pPr>
              <a:spcBef>
                <a:spcPts val="3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Development Tools</a:t>
            </a:r>
          </a:p>
          <a:p>
            <a:pPr marL="285750" indent="-285750">
              <a:spcAft>
                <a:spcPts val="15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Jupyter Notebook</a:t>
            </a:r>
          </a:p>
          <a:p>
            <a:pPr marL="285750" indent="-285750">
              <a:spcAft>
                <a:spcPts val="15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Git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2559992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737360" cy="2286000"/>
          </a:xfrm>
          <a:prstGeom prst="roundRect">
            <a:avLst/>
          </a:prstGeom>
          <a:solidFill>
            <a:srgbClr val="F0F5FA"/>
          </a:solidFill>
          <a:ln w="381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</a:defRPr>
            </a:pPr>
            <a:r>
              <a:t>3,900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212121"/>
                </a:solidFill>
              </a:defRPr>
            </a:pPr>
            <a:r>
              <a:t>Customer</a:t>
            </a:r>
            <a:br/>
            <a:r>
              <a:t>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645920"/>
            <a:ext cx="1737360" cy="2286000"/>
          </a:xfrm>
          <a:prstGeom prst="roundRect">
            <a:avLst/>
          </a:prstGeom>
          <a:solidFill>
            <a:srgbClr val="F0F5FA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182880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212121"/>
                </a:solidFill>
              </a:defRPr>
            </a:pPr>
            <a:r>
              <a:t>Data</a:t>
            </a:r>
            <a:br/>
            <a:r>
              <a:t>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645920"/>
            <a:ext cx="1737360" cy="2286000"/>
          </a:xfrm>
          <a:prstGeom prst="roundRect">
            <a:avLst/>
          </a:prstGeom>
          <a:solidFill>
            <a:srgbClr val="F0F5FA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8C00"/>
                </a:solidFill>
              </a:defRPr>
            </a:pPr>
            <a: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212121"/>
                </a:solidFill>
              </a:defRPr>
            </a:pPr>
            <a:r>
              <a:t>Missing</a:t>
            </a:r>
            <a:br/>
            <a:r>
              <a:t>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645920"/>
            <a:ext cx="1737360" cy="2286000"/>
          </a:xfrm>
          <a:prstGeom prst="roundRect">
            <a:avLst/>
          </a:prstGeom>
          <a:solidFill>
            <a:srgbClr val="F0F5FA"/>
          </a:solidFill>
          <a:ln w="38100">
            <a:solidFill>
              <a:srgbClr val="34A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A8DB"/>
                </a:solidFill>
              </a:defRPr>
            </a:pPr>
            <a:r>
              <a:t>548.6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212121"/>
                </a:solidFill>
              </a:defRPr>
            </a:pPr>
            <a:r>
              <a:t>Data Size</a:t>
            </a:r>
            <a:br/>
            <a:r>
              <a:t>(KB)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A5F"/>
                </a:solidFill>
              </a:defRPr>
            </a:pPr>
            <a:r>
              <a:t>Data Composition: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• int64 (4 columns) - Age, Income, Previous Purchases, etc.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• float64 (1 column) - Review Rating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• object (13 columns) - Customer demographics, Product categories, Payment methods</a:t>
            </a:r>
          </a:p>
        </p:txBody>
      </p:sp>
    </p:spTree>
    <p:extLst>
      <p:ext uri="{BB962C8B-B14F-4D97-AF65-F5344CB8AC3E}">
        <p14:creationId xmlns:p14="http://schemas.microsoft.com/office/powerpoint/2010/main" val="2537484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 w="254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Database Schema - Normalized Design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5BEFCD-F577-404C-B335-E7E7A0116A0D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422400"/>
          <a:ext cx="3556000" cy="2057400"/>
        </p:xfrm>
        <a:graphic>
          <a:graphicData uri="http://schemas.openxmlformats.org/drawingml/2006/table">
            <a:tbl>
              <a:tblPr/>
              <a:tblGrid>
                <a:gridCol w="2413000">
                  <a:extLst>
                    <a:ext uri="{9D8B030D-6E8A-4147-A177-3AD203B41FA5}">
                      <a16:colId xmlns:a16="http://schemas.microsoft.com/office/drawing/2014/main" val="193766697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331031216"/>
                    </a:ext>
                  </a:extLst>
                </a:gridCol>
              </a:tblGrid>
              <a:tr h="342900">
                <a:tc gridSpan="2"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A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marT="44450" marB="44450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1072165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Customer_ID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646464"/>
                          </a:solidFill>
                        </a:rPr>
                        <a:t>PK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30828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Age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646464"/>
                          </a:solidFill>
                        </a:rPr>
                        <a:t>int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6807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Gender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646464"/>
                          </a:solidFill>
                        </a:rPr>
                        <a:t>text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34896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Location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646464"/>
                          </a:solidFill>
                        </a:rPr>
                        <a:t>text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14686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Income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646464"/>
                          </a:solidFill>
                        </a:rPr>
                        <a:t>int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10166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3ACD1BF-0991-413D-B963-662C3E6439FB}"/>
              </a:ext>
            </a:extLst>
          </p:cNvPr>
          <p:cNvGraphicFramePr>
            <a:graphicFrameLocks noGrp="1"/>
          </p:cNvGraphicFramePr>
          <p:nvPr/>
        </p:nvGraphicFramePr>
        <p:xfrm>
          <a:off x="4978400" y="1422400"/>
          <a:ext cx="3556000" cy="2400300"/>
        </p:xfrm>
        <a:graphic>
          <a:graphicData uri="http://schemas.openxmlformats.org/drawingml/2006/table">
            <a:tbl>
              <a:tblPr/>
              <a:tblGrid>
                <a:gridCol w="2413000">
                  <a:extLst>
                    <a:ext uri="{9D8B030D-6E8A-4147-A177-3AD203B41FA5}">
                      <a16:colId xmlns:a16="http://schemas.microsoft.com/office/drawing/2014/main" val="76447709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106848004"/>
                    </a:ext>
                  </a:extLst>
                </a:gridCol>
              </a:tblGrid>
              <a:tr h="342900">
                <a:tc gridSpan="2"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solidFill>
                            <a:srgbClr val="FFFFFF"/>
                          </a:solidFill>
                        </a:rPr>
                        <a:t>PURCHASE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A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marT="44450" marB="44450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8501450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Purchase_ID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646464"/>
                          </a:solidFill>
                        </a:rPr>
                        <a:t>PK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67901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Customer_ID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646464"/>
                          </a:solidFill>
                        </a:rPr>
                        <a:t>FK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17549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Category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646464"/>
                          </a:solidFill>
                        </a:rPr>
                        <a:t>text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46525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Amount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646464"/>
                          </a:solidFill>
                        </a:rPr>
                        <a:t>float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71607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Payment Method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646464"/>
                          </a:solidFill>
                        </a:rPr>
                        <a:t>text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7334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Date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646464"/>
                          </a:solidFill>
                        </a:rPr>
                        <a:t>date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39178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6B9CB41-D7B2-4E1B-BF05-6F69AAEBF0D8}"/>
              </a:ext>
            </a:extLst>
          </p:cNvPr>
          <p:cNvSpPr txBox="1"/>
          <p:nvPr/>
        </p:nvSpPr>
        <p:spPr>
          <a:xfrm>
            <a:off x="4165600" y="1905000"/>
            <a:ext cx="8128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b="1">
                <a:solidFill>
                  <a:srgbClr val="1F3A5F"/>
                </a:solidFill>
              </a:rPr>
              <a:t>1  :  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DDEF8C-FAB5-45BF-916F-4C2F2F8AC811}"/>
              </a:ext>
            </a:extLst>
          </p:cNvPr>
          <p:cNvSpPr txBox="1"/>
          <p:nvPr/>
        </p:nvSpPr>
        <p:spPr>
          <a:xfrm>
            <a:off x="4089400" y="2286000"/>
            <a:ext cx="9652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100">
                <a:solidFill>
                  <a:srgbClr val="646464"/>
                </a:solidFill>
              </a:rPr>
              <a:t>One-to-Many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E12601-899A-44FA-8CC4-6B5DCF276CE0}"/>
              </a:ext>
            </a:extLst>
          </p:cNvPr>
          <p:cNvSpPr/>
          <p:nvPr/>
        </p:nvSpPr>
        <p:spPr>
          <a:xfrm>
            <a:off x="609600" y="4470400"/>
            <a:ext cx="2489200" cy="8636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41BE54-435B-4A6A-9515-9B15FF7C6716}"/>
              </a:ext>
            </a:extLst>
          </p:cNvPr>
          <p:cNvSpPr txBox="1"/>
          <p:nvPr/>
        </p:nvSpPr>
        <p:spPr>
          <a:xfrm>
            <a:off x="711200" y="45720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1F3A5F"/>
                </a:solidFill>
              </a:rPr>
              <a:t>3NF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766199-0AE7-4412-AFC1-99BCC3460066}"/>
              </a:ext>
            </a:extLst>
          </p:cNvPr>
          <p:cNvSpPr txBox="1"/>
          <p:nvPr/>
        </p:nvSpPr>
        <p:spPr>
          <a:xfrm>
            <a:off x="711200" y="49022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200">
                <a:solidFill>
                  <a:srgbClr val="646464"/>
                </a:solidFill>
              </a:rPr>
              <a:t>Third Normal Form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D71DB12-25EE-4F37-9F45-7126CE23CD7D}"/>
              </a:ext>
            </a:extLst>
          </p:cNvPr>
          <p:cNvSpPr/>
          <p:nvPr/>
        </p:nvSpPr>
        <p:spPr>
          <a:xfrm>
            <a:off x="3327400" y="4470400"/>
            <a:ext cx="2489200" cy="8636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E8B677-B034-4DB8-9500-E58BF1006902}"/>
              </a:ext>
            </a:extLst>
          </p:cNvPr>
          <p:cNvSpPr txBox="1"/>
          <p:nvPr/>
        </p:nvSpPr>
        <p:spPr>
          <a:xfrm>
            <a:off x="3429000" y="45720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1F3A5F"/>
                </a:solidFill>
              </a:rPr>
              <a:t>Referential Integrity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7904CE-DB08-4FB8-961A-8B2B0FB1A42A}"/>
              </a:ext>
            </a:extLst>
          </p:cNvPr>
          <p:cNvSpPr txBox="1"/>
          <p:nvPr/>
        </p:nvSpPr>
        <p:spPr>
          <a:xfrm>
            <a:off x="3429000" y="49022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200">
                <a:solidFill>
                  <a:srgbClr val="646464"/>
                </a:solidFill>
              </a:rPr>
              <a:t>Enforced via foreign keys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EB3A38F-A048-4AA0-BDC9-D49B733096B6}"/>
              </a:ext>
            </a:extLst>
          </p:cNvPr>
          <p:cNvSpPr/>
          <p:nvPr/>
        </p:nvSpPr>
        <p:spPr>
          <a:xfrm>
            <a:off x="6045200" y="4470400"/>
            <a:ext cx="2489200" cy="8636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AB63BE-87D0-456E-9E37-F79F4D18F346}"/>
              </a:ext>
            </a:extLst>
          </p:cNvPr>
          <p:cNvSpPr txBox="1"/>
          <p:nvPr/>
        </p:nvSpPr>
        <p:spPr>
          <a:xfrm>
            <a:off x="6146800" y="45720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1F3A5F"/>
                </a:solidFill>
              </a:rPr>
              <a:t>Data Integrity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863633-1525-4CFD-ADAA-3470126522C9}"/>
              </a:ext>
            </a:extLst>
          </p:cNvPr>
          <p:cNvSpPr txBox="1"/>
          <p:nvPr/>
        </p:nvSpPr>
        <p:spPr>
          <a:xfrm>
            <a:off x="6146800" y="49022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200">
                <a:solidFill>
                  <a:srgbClr val="646464"/>
                </a:solidFill>
              </a:rPr>
              <a:t>FK constraints maintained</a:t>
            </a:r>
          </a:p>
        </p:txBody>
      </p:sp>
    </p:spTree>
    <p:extLst>
      <p:ext uri="{BB962C8B-B14F-4D97-AF65-F5344CB8AC3E}">
        <p14:creationId xmlns:p14="http://schemas.microsoft.com/office/powerpoint/2010/main" val="2058384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 Processing Pipeline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645920"/>
            <a:ext cx="548640" cy="548640"/>
          </a:xfrm>
          <a:prstGeom prst="ellipse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3774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66CC"/>
                </a:solidFill>
              </a:defRPr>
            </a:pPr>
            <a:r>
              <a:t>IMPORT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9260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100">
                <a:solidFill>
                  <a:srgbClr val="212121"/>
                </a:solidFill>
              </a:defRPr>
            </a:pPr>
            <a:r>
              <a:t>Load CSV</a:t>
            </a:r>
            <a:br/>
            <a:r>
              <a:t>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1920240"/>
            <a:ext cx="274320" cy="0"/>
          </a:xfrm>
          <a:prstGeom prst="line">
            <a:avLst/>
          </a:prstGeom>
          <a:ln w="25400">
            <a:solidFill>
              <a:srgbClr val="34A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828800" y="1645920"/>
            <a:ext cx="548640" cy="548640"/>
          </a:xfrm>
          <a:prstGeom prst="ellipse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16459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66CC"/>
                </a:solidFill>
              </a:defRPr>
            </a:pPr>
            <a:r>
              <a:t>EXPLORE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260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100">
                <a:solidFill>
                  <a:srgbClr val="212121"/>
                </a:solidFill>
              </a:defRPr>
            </a:pPr>
            <a:r>
              <a:t>Data</a:t>
            </a:r>
            <a:br/>
            <a:r>
              <a:t>Structure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1920240"/>
            <a:ext cx="274320" cy="0"/>
          </a:xfrm>
          <a:prstGeom prst="line">
            <a:avLst/>
          </a:prstGeom>
          <a:ln w="25400">
            <a:solidFill>
              <a:srgbClr val="34A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200400" y="1645920"/>
            <a:ext cx="548640" cy="548640"/>
          </a:xfrm>
          <a:prstGeom prst="ellipse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16459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774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66CC"/>
                </a:solidFill>
              </a:defRPr>
            </a:pPr>
            <a: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9260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100">
                <a:solidFill>
                  <a:srgbClr val="212121"/>
                </a:solidFill>
              </a:defRPr>
            </a:pPr>
            <a:r>
              <a:t>Handle</a:t>
            </a:r>
            <a:br/>
            <a:r>
              <a:t>Missing/Duplicates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0" y="1920240"/>
            <a:ext cx="274320" cy="0"/>
          </a:xfrm>
          <a:prstGeom prst="line">
            <a:avLst/>
          </a:prstGeom>
          <a:ln w="25400">
            <a:solidFill>
              <a:srgbClr val="34A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16459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3774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66CC"/>
                </a:solidFill>
              </a:defRPr>
            </a:pPr>
            <a:r>
              <a:t>TRANSFORM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9260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100">
                <a:solidFill>
                  <a:srgbClr val="212121"/>
                </a:solidFill>
              </a:defRPr>
            </a:pPr>
            <a:r>
              <a:t>Feature</a:t>
            </a:r>
            <a:br/>
            <a:r>
              <a:t>Engineering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12080" y="1920240"/>
            <a:ext cx="274320" cy="0"/>
          </a:xfrm>
          <a:prstGeom prst="line">
            <a:avLst/>
          </a:prstGeom>
          <a:ln w="25400">
            <a:solidFill>
              <a:srgbClr val="34A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943600" y="1645920"/>
            <a:ext cx="548640" cy="548640"/>
          </a:xfrm>
          <a:prstGeom prst="ellipse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0" y="16459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3774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66CC"/>
                </a:solidFill>
              </a:defRPr>
            </a:pPr>
            <a: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29260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100">
                <a:solidFill>
                  <a:srgbClr val="212121"/>
                </a:solidFill>
              </a:defRPr>
            </a:pPr>
            <a:r>
              <a:t>Quality</a:t>
            </a:r>
            <a:br/>
            <a:r>
              <a:t>Checks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0" y="1645920"/>
            <a:ext cx="548640" cy="548640"/>
          </a:xfrm>
          <a:prstGeom prst="ellipse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0" y="16459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3774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66CC"/>
                </a:solidFill>
              </a:defRPr>
            </a:pPr>
            <a:r>
              <a:t>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9260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100">
                <a:solidFill>
                  <a:srgbClr val="212121"/>
                </a:solidFill>
              </a:defRPr>
            </a:pPr>
            <a:r>
              <a:t>Database</a:t>
            </a:r>
            <a:br/>
            <a:r>
              <a:t>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75488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7800"/>
                </a:solidFill>
              </a:defRPr>
            </a:pPr>
            <a:r>
              <a:t>✓ 3,900 Records Processed → Cleaned &amp; Structured Data → Ready for Analysis</a:t>
            </a:r>
          </a:p>
        </p:txBody>
      </p:sp>
    </p:spTree>
    <p:extLst>
      <p:ext uri="{BB962C8B-B14F-4D97-AF65-F5344CB8AC3E}">
        <p14:creationId xmlns:p14="http://schemas.microsoft.com/office/powerpoint/2010/main" val="2243988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 w="254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Exploratory Data Analysis (EDA)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73152" cy="5303520"/>
          </a:xfrm>
          <a:prstGeom prst="rect">
            <a:avLst/>
          </a:prstGeom>
          <a:solidFill>
            <a:srgbClr val="34A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1193800"/>
            <a:ext cx="4013200" cy="2326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</a:rPr>
              <a:t>Statistical Analysis Performed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Structure: 3,900 records × 18 columns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Data types: int64, float64, object (mixed)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Descriptive stats: mean, median, std dev, quartiles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Missing values: 37 in Review Rating (0.95%)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Correlation analysis of key variables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Distribution analysis: age &amp; income patterns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C0AF2-97CC-4F7F-AC94-63DB3C546F73}"/>
              </a:ext>
            </a:extLst>
          </p:cNvPr>
          <p:cNvSpPr txBox="1"/>
          <p:nvPr/>
        </p:nvSpPr>
        <p:spPr>
          <a:xfrm>
            <a:off x="4876800" y="11938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Key Insights Discovered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55152D-802E-423B-A2D6-FB0F1E7F6F47}"/>
              </a:ext>
            </a:extLst>
          </p:cNvPr>
          <p:cNvSpPr/>
          <p:nvPr/>
        </p:nvSpPr>
        <p:spPr>
          <a:xfrm>
            <a:off x="4876800" y="1651000"/>
            <a:ext cx="3810000" cy="12192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774F98-E859-48E2-9453-15CB62BEC32C}"/>
              </a:ext>
            </a:extLst>
          </p:cNvPr>
          <p:cNvSpPr txBox="1"/>
          <p:nvPr/>
        </p:nvSpPr>
        <p:spPr>
          <a:xfrm>
            <a:off x="4978400" y="1752600"/>
            <a:ext cx="1270000" cy="1016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32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60%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2C2D81-1F0B-4622-89EE-5AACA3C63BFC}"/>
              </a:ext>
            </a:extLst>
          </p:cNvPr>
          <p:cNvSpPr txBox="1"/>
          <p:nvPr/>
        </p:nvSpPr>
        <p:spPr>
          <a:xfrm>
            <a:off x="6350000" y="1752600"/>
            <a:ext cx="2235200" cy="1016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Purchases from young &amp; middle-aged shoppers</a:t>
            </a:r>
            <a:endParaRPr lang="en-IN" sz="1400">
              <a:solidFill>
                <a:srgbClr val="21212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7C3C71-AE64-4FDD-B95C-16C97D673179}"/>
              </a:ext>
            </a:extLst>
          </p:cNvPr>
          <p:cNvSpPr/>
          <p:nvPr/>
        </p:nvSpPr>
        <p:spPr>
          <a:xfrm>
            <a:off x="4876800" y="3022600"/>
            <a:ext cx="3810000" cy="12192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B2072B-1EFB-48F9-930A-EE05051D95B0}"/>
              </a:ext>
            </a:extLst>
          </p:cNvPr>
          <p:cNvSpPr txBox="1"/>
          <p:nvPr/>
        </p:nvSpPr>
        <p:spPr>
          <a:xfrm>
            <a:off x="4978400" y="3124200"/>
            <a:ext cx="1270000" cy="1016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32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40%+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C783ED-DBBE-4875-B53F-9D89D660DB1A}"/>
              </a:ext>
            </a:extLst>
          </p:cNvPr>
          <p:cNvSpPr txBox="1"/>
          <p:nvPr/>
        </p:nvSpPr>
        <p:spPr>
          <a:xfrm>
            <a:off x="6350000" y="3124200"/>
            <a:ext cx="2235200" cy="1016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Revenue from Clothing, the top category</a:t>
            </a:r>
            <a:endParaRPr lang="en-IN" sz="1400">
              <a:solidFill>
                <a:srgbClr val="21212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DF78CC8-32D0-491E-B559-88C02CF3EECF}"/>
              </a:ext>
            </a:extLst>
          </p:cNvPr>
          <p:cNvSpPr/>
          <p:nvPr/>
        </p:nvSpPr>
        <p:spPr>
          <a:xfrm>
            <a:off x="4876800" y="4394200"/>
            <a:ext cx="3810000" cy="12192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99AE65-7C9B-4209-BFA2-05F16D4523AF}"/>
              </a:ext>
            </a:extLst>
          </p:cNvPr>
          <p:cNvSpPr txBox="1"/>
          <p:nvPr/>
        </p:nvSpPr>
        <p:spPr>
          <a:xfrm>
            <a:off x="4978400" y="4495800"/>
            <a:ext cx="1270000" cy="1016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32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$58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08EFFD-F073-403F-A9A8-0B224912E1FF}"/>
              </a:ext>
            </a:extLst>
          </p:cNvPr>
          <p:cNvSpPr txBox="1"/>
          <p:nvPr/>
        </p:nvSpPr>
        <p:spPr>
          <a:xfrm>
            <a:off x="6350000" y="4495800"/>
            <a:ext cx="2235200" cy="1016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4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Average value per transaction</a:t>
            </a:r>
          </a:p>
        </p:txBody>
      </p:sp>
    </p:spTree>
    <p:extLst>
      <p:ext uri="{BB962C8B-B14F-4D97-AF65-F5344CB8AC3E}">
        <p14:creationId xmlns:p14="http://schemas.microsoft.com/office/powerpoint/2010/main" val="1640201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SQL Business Queries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560320" cy="164592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4A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A5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Total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66CC"/>
                </a:solidFill>
              </a:defRPr>
            </a:pPr>
            <a:r>
              <a:t>3,900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560320" cy="164592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4A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463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A5F"/>
                </a:solidFill>
              </a:defRPr>
            </a:pPr>
            <a: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Avg Purchase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68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66CC"/>
                </a:solidFill>
              </a:defRPr>
            </a:pPr>
            <a:r>
              <a:t>$58.20 per transaction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560320" cy="164592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4A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59" y="1463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A5F"/>
                </a:solidFill>
              </a:defRPr>
            </a:pPr>
            <a: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Top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468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66CC"/>
                </a:solidFill>
              </a:defRPr>
            </a:pPr>
            <a:r>
              <a:t>Clothing leads revenue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2560320" cy="164592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4A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2918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A5F"/>
                </a:solidFill>
              </a:defRPr>
            </a:pPr>
            <a: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Payment Methods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66CC"/>
                </a:solidFill>
              </a:defRPr>
            </a:pPr>
            <a:r>
              <a:t>Credit card preferred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200400"/>
            <a:ext cx="2560320" cy="164592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4A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32918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A5F"/>
                </a:solidFill>
              </a:defRPr>
            </a:pPr>
            <a:r>
              <a:t>Q5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657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Age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297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66CC"/>
                </a:solidFill>
              </a:defRPr>
            </a:pPr>
            <a:r>
              <a:t>Even demographic spread</a:t>
            </a:r>
          </a:p>
        </p:txBody>
      </p:sp>
    </p:spTree>
    <p:extLst>
      <p:ext uri="{BB962C8B-B14F-4D97-AF65-F5344CB8AC3E}">
        <p14:creationId xmlns:p14="http://schemas.microsoft.com/office/powerpoint/2010/main" val="3056961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3EDB863-AA50-428C-8CB5-B7C52BBE7A56}"/>
              </a:ext>
            </a:extLst>
          </p:cNvPr>
          <p:cNvSpPr/>
          <p:nvPr/>
        </p:nvSpPr>
        <p:spPr>
          <a:xfrm>
            <a:off x="546100" y="5207000"/>
            <a:ext cx="8051800" cy="6350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03603B3-DE0F-47FF-B2B2-7628EBAE36FE}"/>
              </a:ext>
            </a:extLst>
          </p:cNvPr>
          <p:cNvSpPr/>
          <p:nvPr/>
        </p:nvSpPr>
        <p:spPr>
          <a:xfrm>
            <a:off x="546100" y="4419600"/>
            <a:ext cx="8051800" cy="6350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582FDE0-D90A-4984-9A87-912CDFFB5099}"/>
              </a:ext>
            </a:extLst>
          </p:cNvPr>
          <p:cNvSpPr/>
          <p:nvPr/>
        </p:nvSpPr>
        <p:spPr>
          <a:xfrm>
            <a:off x="546100" y="3632200"/>
            <a:ext cx="8051800" cy="6350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F02A7BC-9DB4-4E75-A4A6-B4E187C7A40D}"/>
              </a:ext>
            </a:extLst>
          </p:cNvPr>
          <p:cNvSpPr/>
          <p:nvPr/>
        </p:nvSpPr>
        <p:spPr>
          <a:xfrm>
            <a:off x="546100" y="2844800"/>
            <a:ext cx="8051800" cy="6350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177E9C8-5A7D-4364-A7F9-8EF35693E1D9}"/>
              </a:ext>
            </a:extLst>
          </p:cNvPr>
          <p:cNvSpPr/>
          <p:nvPr/>
        </p:nvSpPr>
        <p:spPr>
          <a:xfrm>
            <a:off x="546100" y="2057400"/>
            <a:ext cx="8051800" cy="6350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C46B9DA-D59F-4354-9120-434DC67E165C}"/>
              </a:ext>
            </a:extLst>
          </p:cNvPr>
          <p:cNvSpPr/>
          <p:nvPr/>
        </p:nvSpPr>
        <p:spPr>
          <a:xfrm>
            <a:off x="546100" y="1270000"/>
            <a:ext cx="8051800" cy="6350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IN" sz="4000" b="1">
                <a:solidFill>
                  <a:srgbClr val="FFFFFF"/>
                </a:solidFill>
              </a:rPr>
              <a:t>Power BI Dashboard - Components</a:t>
            </a:r>
            <a:endParaRPr sz="4000" b="1">
              <a:solidFill>
                <a:srgbClr val="FFFFF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8A049A-1CB0-4151-A9DC-4851B34537A2}"/>
              </a:ext>
            </a:extLst>
          </p:cNvPr>
          <p:cNvSpPr txBox="1"/>
          <p:nvPr/>
        </p:nvSpPr>
        <p:spPr>
          <a:xfrm>
            <a:off x="1168400" y="1409700"/>
            <a:ext cx="27178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1F3A5F"/>
                </a:solidFill>
              </a:rPr>
              <a:t>KPI Cards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9F6087-FFB5-455F-B24F-96E2C4181D42}"/>
              </a:ext>
            </a:extLst>
          </p:cNvPr>
          <p:cNvSpPr txBox="1"/>
          <p:nvPr/>
        </p:nvSpPr>
        <p:spPr>
          <a:xfrm>
            <a:off x="3987800" y="1422400"/>
            <a:ext cx="4470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646464"/>
                </a:solidFill>
              </a:rPr>
              <a:t>Total customers, average purchase, ratings</a:t>
            </a:r>
            <a:endParaRPr lang="en-IN" sz="1400">
              <a:solidFill>
                <a:srgbClr val="646464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5D0E4D-EF9D-4B12-A45E-C972D85DEE87}"/>
              </a:ext>
            </a:extLst>
          </p:cNvPr>
          <p:cNvSpPr txBox="1"/>
          <p:nvPr/>
        </p:nvSpPr>
        <p:spPr>
          <a:xfrm>
            <a:off x="1168400" y="2197100"/>
            <a:ext cx="27178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1F3A5F"/>
                </a:solidFill>
              </a:rPr>
              <a:t>Category Analysis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5177D8-F7A1-4D8F-B758-9BB47FA375BD}"/>
              </a:ext>
            </a:extLst>
          </p:cNvPr>
          <p:cNvSpPr txBox="1"/>
          <p:nvPr/>
        </p:nvSpPr>
        <p:spPr>
          <a:xfrm>
            <a:off x="3987800" y="2209800"/>
            <a:ext cx="4470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646464"/>
                </a:solidFill>
              </a:rPr>
              <a:t>Revenue and sales by product type</a:t>
            </a:r>
            <a:endParaRPr lang="en-IN" sz="1400">
              <a:solidFill>
                <a:srgbClr val="646464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92EADA-4BA9-42D8-A848-917521A36E16}"/>
              </a:ext>
            </a:extLst>
          </p:cNvPr>
          <p:cNvSpPr txBox="1"/>
          <p:nvPr/>
        </p:nvSpPr>
        <p:spPr>
          <a:xfrm>
            <a:off x="1168400" y="2984500"/>
            <a:ext cx="27178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1F3A5F"/>
                </a:solidFill>
              </a:rPr>
              <a:t>Demographics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BD8C70-CE92-491F-9AC5-282117BC5DD5}"/>
              </a:ext>
            </a:extLst>
          </p:cNvPr>
          <p:cNvSpPr txBox="1"/>
          <p:nvPr/>
        </p:nvSpPr>
        <p:spPr>
          <a:xfrm>
            <a:off x="3987800" y="2997200"/>
            <a:ext cx="4470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646464"/>
                </a:solidFill>
              </a:rPr>
              <a:t>Revenue and sales by age group</a:t>
            </a:r>
            <a:endParaRPr lang="en-IN" sz="1400">
              <a:solidFill>
                <a:srgbClr val="646464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14A080-11D4-480B-AE74-458FE8D005DA}"/>
              </a:ext>
            </a:extLst>
          </p:cNvPr>
          <p:cNvSpPr txBox="1"/>
          <p:nvPr/>
        </p:nvSpPr>
        <p:spPr>
          <a:xfrm>
            <a:off x="1168400" y="3771900"/>
            <a:ext cx="27178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1F3A5F"/>
                </a:solidFill>
              </a:rPr>
              <a:t>Payment Methods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A1FE99-BFA0-4E70-B16A-D21AF4C5B2C7}"/>
              </a:ext>
            </a:extLst>
          </p:cNvPr>
          <p:cNvSpPr txBox="1"/>
          <p:nvPr/>
        </p:nvSpPr>
        <p:spPr>
          <a:xfrm>
            <a:off x="3987800" y="3784600"/>
            <a:ext cx="4470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1400">
                <a:solidFill>
                  <a:srgbClr val="646464"/>
                </a:solidFill>
              </a:rPr>
              <a:t>Distribution of payment types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58F82E-E69B-4AFA-B2DE-044B8F504404}"/>
              </a:ext>
            </a:extLst>
          </p:cNvPr>
          <p:cNvSpPr txBox="1"/>
          <p:nvPr/>
        </p:nvSpPr>
        <p:spPr>
          <a:xfrm>
            <a:off x="1168400" y="4559300"/>
            <a:ext cx="27178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1F3A5F"/>
                </a:solidFill>
              </a:rPr>
              <a:t>Interactive Filters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1DFFE8-FB50-4463-9C8F-4900877B59CB}"/>
              </a:ext>
            </a:extLst>
          </p:cNvPr>
          <p:cNvSpPr txBox="1"/>
          <p:nvPr/>
        </p:nvSpPr>
        <p:spPr>
          <a:xfrm>
            <a:off x="3987800" y="4572000"/>
            <a:ext cx="4470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1400">
                <a:solidFill>
                  <a:srgbClr val="646464"/>
                </a:solidFill>
              </a:rPr>
              <a:t>Real-time dashboard updates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7D3CE3-EC1A-4976-9012-BA1D7171F741}"/>
              </a:ext>
            </a:extLst>
          </p:cNvPr>
          <p:cNvSpPr txBox="1"/>
          <p:nvPr/>
        </p:nvSpPr>
        <p:spPr>
          <a:xfrm>
            <a:off x="1168400" y="5346700"/>
            <a:ext cx="27178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1F3A5F"/>
                </a:solidFill>
              </a:rPr>
              <a:t>Trends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AA4C27-0419-4D07-A891-F0069F3E5984}"/>
              </a:ext>
            </a:extLst>
          </p:cNvPr>
          <p:cNvSpPr txBox="1"/>
          <p:nvPr/>
        </p:nvSpPr>
        <p:spPr>
          <a:xfrm>
            <a:off x="3987800" y="5359400"/>
            <a:ext cx="4470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IN" sz="1400">
                <a:solidFill>
                  <a:srgbClr val="646464"/>
                </a:solidFill>
              </a:rPr>
              <a:t>Temporal purchasing patterns</a:t>
            </a:r>
          </a:p>
        </p:txBody>
      </p:sp>
      <p:pic>
        <p:nvPicPr>
          <p:cNvPr id="41" name="Graphic 41" descr="KP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384300"/>
            <a:ext cx="406400" cy="406400"/>
          </a:xfrm>
          <a:prstGeom prst="rect">
            <a:avLst/>
          </a:prstGeom>
        </p:spPr>
      </p:pic>
      <p:pic>
        <p:nvPicPr>
          <p:cNvPr id="42" name="Graphic 42" descr="Catego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2171700"/>
            <a:ext cx="406400" cy="406400"/>
          </a:xfrm>
          <a:prstGeom prst="rect">
            <a:avLst/>
          </a:prstGeom>
        </p:spPr>
      </p:pic>
      <p:pic>
        <p:nvPicPr>
          <p:cNvPr id="43" name="Graphic 43" descr="Demographic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2959100"/>
            <a:ext cx="406400" cy="406400"/>
          </a:xfrm>
          <a:prstGeom prst="rect">
            <a:avLst/>
          </a:prstGeom>
        </p:spPr>
      </p:pic>
      <p:pic>
        <p:nvPicPr>
          <p:cNvPr id="44" name="Graphic 44" descr="Pay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" y="3746500"/>
            <a:ext cx="406400" cy="406400"/>
          </a:xfrm>
          <a:prstGeom prst="rect">
            <a:avLst/>
          </a:prstGeom>
        </p:spPr>
      </p:pic>
      <p:pic>
        <p:nvPicPr>
          <p:cNvPr id="45" name="Graphic 45" descr="Filt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" y="4533900"/>
            <a:ext cx="406400" cy="406400"/>
          </a:xfrm>
          <a:prstGeom prst="rect">
            <a:avLst/>
          </a:prstGeom>
        </p:spPr>
      </p:pic>
      <p:pic>
        <p:nvPicPr>
          <p:cNvPr id="46" name="Graphic 46" descr="Trend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" y="53213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644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 w="254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Dashboard Business Insights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69455F-CBCA-4AB7-A80A-041A96C90784}"/>
              </a:ext>
            </a:extLst>
          </p:cNvPr>
          <p:cNvSpPr/>
          <p:nvPr/>
        </p:nvSpPr>
        <p:spPr>
          <a:xfrm>
            <a:off x="457200" y="1524000"/>
            <a:ext cx="2743200" cy="37846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90930-E719-4D5E-AD82-14C7A16E7E10}"/>
              </a:ext>
            </a:extLst>
          </p:cNvPr>
          <p:cNvSpPr txBox="1"/>
          <p:nvPr/>
        </p:nvSpPr>
        <p:spPr>
          <a:xfrm>
            <a:off x="609600" y="2438400"/>
            <a:ext cx="24384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Customer Segmentation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1E67B-33D6-4B34-9491-AD4C012B5101}"/>
              </a:ext>
            </a:extLst>
          </p:cNvPr>
          <p:cNvSpPr txBox="1"/>
          <p:nvPr/>
        </p:nvSpPr>
        <p:spPr>
          <a:xfrm>
            <a:off x="635000" y="3098800"/>
            <a:ext cx="23876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Young &amp; middle-aged shoppers drive 60% of purchases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Gender-neutral buying patterns observed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E201E1-1846-4233-9D0E-1744ED0B02F9}"/>
              </a:ext>
            </a:extLst>
          </p:cNvPr>
          <p:cNvSpPr/>
          <p:nvPr/>
        </p:nvSpPr>
        <p:spPr>
          <a:xfrm>
            <a:off x="3403600" y="1524000"/>
            <a:ext cx="2743200" cy="37846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B64AD1-077E-4697-9BB4-ACD8B7A39F51}"/>
              </a:ext>
            </a:extLst>
          </p:cNvPr>
          <p:cNvSpPr txBox="1"/>
          <p:nvPr/>
        </p:nvSpPr>
        <p:spPr>
          <a:xfrm>
            <a:off x="3556000" y="2438400"/>
            <a:ext cx="24384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Revenue Optimization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2A6349-89BD-40C4-AB45-863A5A870A41}"/>
              </a:ext>
            </a:extLst>
          </p:cNvPr>
          <p:cNvSpPr txBox="1"/>
          <p:nvPr/>
        </p:nvSpPr>
        <p:spPr>
          <a:xfrm>
            <a:off x="3581400" y="3098800"/>
            <a:ext cx="23876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Clothing drives 40%+ of total revenue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Accessories &amp; footwear show steady demand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3C1767-2398-46BD-99CC-8FAE15D2040F}"/>
              </a:ext>
            </a:extLst>
          </p:cNvPr>
          <p:cNvSpPr/>
          <p:nvPr/>
        </p:nvSpPr>
        <p:spPr>
          <a:xfrm>
            <a:off x="6350000" y="1524000"/>
            <a:ext cx="2743200" cy="3784600"/>
          </a:xfrm>
          <a:prstGeom prst="roundRect">
            <a:avLst/>
          </a:prstGeom>
          <a:solidFill>
            <a:srgbClr val="F0F5FA"/>
          </a:solidFill>
          <a:ln w="12700" cap="flat" cmpd="sng" algn="ctr">
            <a:solidFill>
              <a:srgbClr val="34A8D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76ABBC-8964-4832-ADCF-F8B84C2D6A4C}"/>
              </a:ext>
            </a:extLst>
          </p:cNvPr>
          <p:cNvSpPr txBox="1"/>
          <p:nvPr/>
        </p:nvSpPr>
        <p:spPr>
          <a:xfrm>
            <a:off x="6502400" y="2438400"/>
            <a:ext cx="24384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Strategic Recommendations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264BAE-A876-4C2F-9649-144D034E5313}"/>
              </a:ext>
            </a:extLst>
          </p:cNvPr>
          <p:cNvSpPr txBox="1"/>
          <p:nvPr/>
        </p:nvSpPr>
        <p:spPr>
          <a:xfrm>
            <a:off x="6527800" y="3098800"/>
            <a:ext cx="23876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Focus inventory on top-performing categories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Target primary demographics in campaigns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Optimize for credit-card payments</a:t>
            </a:r>
          </a:p>
        </p:txBody>
      </p:sp>
      <p:pic>
        <p:nvPicPr>
          <p:cNvPr id="14" name="Graphic 14" descr="segment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9400" y="1778000"/>
            <a:ext cx="558800" cy="558800"/>
          </a:xfrm>
          <a:prstGeom prst="rect">
            <a:avLst/>
          </a:prstGeom>
        </p:spPr>
      </p:pic>
      <p:pic>
        <p:nvPicPr>
          <p:cNvPr id="15" name="Graphic 15" descr="revenu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5800" y="1778000"/>
            <a:ext cx="558800" cy="558800"/>
          </a:xfrm>
          <a:prstGeom prst="rect">
            <a:avLst/>
          </a:prstGeom>
        </p:spPr>
      </p:pic>
      <p:pic>
        <p:nvPicPr>
          <p:cNvPr id="16" name="Graphic 16" descr="recommenda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2200" y="17780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763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Achievements 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800" b="1">
                <a:solidFill>
                  <a:srgbClr val="007800"/>
                </a:solidFill>
              </a:defRPr>
            </a:pPr>
            <a:r>
              <a:t>✓ Complete end-to-end analytics pipeline implemented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 b="1">
                <a:solidFill>
                  <a:srgbClr val="007800"/>
                </a:solidFill>
              </a:defRPr>
            </a:pPr>
            <a:r>
              <a:t>✓ 3,900+ customer records successfully processed and cleaned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 b="1">
                <a:solidFill>
                  <a:srgbClr val="007800"/>
                </a:solidFill>
              </a:defRPr>
            </a:pPr>
            <a:r>
              <a:t>✓ Normalized database schema (3NF) with referential integrity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 b="1">
                <a:solidFill>
                  <a:srgbClr val="007800"/>
                </a:solidFill>
              </a:defRPr>
            </a:pPr>
            <a:r>
              <a:t>✓ 5+ comprehensive SQL business intelligence queries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 b="1">
                <a:solidFill>
                  <a:srgbClr val="007800"/>
                </a:solidFill>
              </a:defRPr>
            </a:pPr>
            <a:r>
              <a:t>✓ Interactive Power BI dashboards with real-time filters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 b="1">
                <a:solidFill>
                  <a:srgbClr val="007800"/>
                </a:solidFill>
              </a:defRPr>
            </a:pPr>
            <a:r>
              <a:t>✓ Actionable business insights for decision-making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 b="1">
                <a:solidFill>
                  <a:srgbClr val="007800"/>
                </a:solidFill>
              </a:defRPr>
            </a:pPr>
            <a:r>
              <a:t>✓ Industry-standard practices demonstrated throughout</a:t>
            </a:r>
          </a:p>
        </p:txBody>
      </p:sp>
    </p:spTree>
    <p:extLst>
      <p:ext uri="{BB962C8B-B14F-4D97-AF65-F5344CB8AC3E}">
        <p14:creationId xmlns:p14="http://schemas.microsoft.com/office/powerpoint/2010/main" val="1079371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Complete Project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8229600" cy="82296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4A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>
                <a:solidFill>
                  <a:srgbClr val="212121"/>
                </a:solidFill>
              </a:defRPr>
            </a:pPr>
            <a:r>
              <a:t>1. Data Collection → 2. Python Processing → 3. Data Cleaning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51760"/>
            <a:ext cx="8229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A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>
                <a:solidFill>
                  <a:srgbClr val="212121"/>
                </a:solidFill>
              </a:defRPr>
            </a:pPr>
            <a:r>
              <a:t>4. EDA → 5. SQL Database Creation → 6. Data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8229600" cy="82296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4A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>
                <a:solidFill>
                  <a:srgbClr val="212121"/>
                </a:solidFill>
              </a:defRPr>
            </a:pPr>
            <a:r>
              <a:t>7. SQL Analytics Queries → 8. Dashboard Development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8229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A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>
                <a:solidFill>
                  <a:srgbClr val="212121"/>
                </a:solidFill>
              </a:defRPr>
            </a:pPr>
            <a:r>
              <a:t>9. Business Insights → 10. Strategic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218068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7527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34A8DB"/>
                </a:solidFill>
              </a:rPr>
              <a:t>Technical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73200"/>
            <a:ext cx="3931920" cy="487680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Python Data Science</a:t>
            </a:r>
          </a:p>
          <a:p>
            <a:pPr marL="285750" indent="-285750">
              <a:spcAft>
                <a:spcPts val="11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Pandas &amp; NumPy mastery</a:t>
            </a:r>
          </a:p>
          <a:p>
            <a:pPr marL="285750" indent="-285750">
              <a:spcAft>
                <a:spcPts val="11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Data preprocessing</a:t>
            </a:r>
          </a:p>
          <a:p>
            <a:pPr marL="285750" indent="-285750">
              <a:spcAft>
                <a:spcPts val="11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Visualization techniques</a:t>
            </a:r>
          </a:p>
          <a:p>
            <a:pPr>
              <a:spcBef>
                <a:spcPts val="2800"/>
              </a:spcBef>
              <a:spcAft>
                <a:spcPts val="7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Database Technologies</a:t>
            </a:r>
          </a:p>
          <a:p>
            <a:pPr marL="285750" indent="-285750">
              <a:spcAft>
                <a:spcPts val="11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SQL query optimization</a:t>
            </a:r>
          </a:p>
          <a:p>
            <a:pPr marL="285750" indent="-285750">
              <a:spcAft>
                <a:spcPts val="11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Database design</a:t>
            </a:r>
          </a:p>
          <a:p>
            <a:pPr marL="285750" indent="-285750">
              <a:spcAft>
                <a:spcPts val="11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Data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207980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34A8DB"/>
                </a:solidFill>
              </a:rPr>
              <a:t>Professional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73200"/>
            <a:ext cx="3931920" cy="487680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Business Intelligence</a:t>
            </a:r>
          </a:p>
          <a:p>
            <a:pPr marL="285750" indent="-285750">
              <a:spcAft>
                <a:spcPts val="11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Dashboard design</a:t>
            </a:r>
          </a:p>
          <a:p>
            <a:pPr marL="285750" indent="-285750">
              <a:spcAft>
                <a:spcPts val="11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Data storytelling</a:t>
            </a:r>
          </a:p>
          <a:p>
            <a:pPr marL="285750" indent="-285750">
              <a:spcAft>
                <a:spcPts val="11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Insight generation</a:t>
            </a:r>
          </a:p>
          <a:p>
            <a:pPr>
              <a:spcBef>
                <a:spcPts val="2800"/>
              </a:spcBef>
              <a:spcAft>
                <a:spcPts val="700"/>
              </a:spcAft>
              <a:buNone/>
            </a:pPr>
            <a:r>
              <a:rPr lang="en-US" sz="1800" b="1" dirty="0">
                <a:solidFill>
                  <a:srgbClr val="1F3A5F"/>
                </a:solidFill>
              </a:rPr>
              <a:t>Project Management</a:t>
            </a:r>
          </a:p>
          <a:p>
            <a:pPr marL="285750" indent="-285750">
              <a:spcAft>
                <a:spcPts val="11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End-to-end delivery</a:t>
            </a:r>
          </a:p>
          <a:p>
            <a:pPr marL="285750" indent="-285750">
              <a:spcAft>
                <a:spcPts val="11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Documentation</a:t>
            </a:r>
          </a:p>
          <a:p>
            <a:pPr marL="285750" indent="-285750">
              <a:spcAft>
                <a:spcPts val="1100"/>
              </a:spcAft>
              <a:buFont typeface="Arial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Stakeholder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04611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Future Scope &amp;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659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2667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100">
                <a:solidFill>
                  <a:srgbClr val="212121"/>
                </a:solidFill>
              </a:defRPr>
            </a:pPr>
            <a:r>
              <a:t>Predictive models, churn prediction,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9659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Real-Time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8200" y="2377440"/>
            <a:ext cx="2667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100">
                <a:solidFill>
                  <a:srgbClr val="212121"/>
                </a:solidFill>
              </a:defRPr>
            </a:pPr>
            <a:r>
              <a:t>Streaming data, live dashboards, instant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659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Cloud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1900" y="2377440"/>
            <a:ext cx="2667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100">
                <a:solidFill>
                  <a:srgbClr val="212121"/>
                </a:solidFill>
              </a:defRPr>
            </a:pPr>
            <a:r>
              <a:t>AWS/Azure scalability, serverless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Natural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667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100">
                <a:solidFill>
                  <a:srgbClr val="212121"/>
                </a:solidFill>
              </a:defRPr>
            </a:pPr>
            <a:r>
              <a:t>Voice queries, conversational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2519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Advanced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8200" y="4663440"/>
            <a:ext cx="2667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100">
                <a:solidFill>
                  <a:srgbClr val="212121"/>
                </a:solidFill>
              </a:defRPr>
            </a:pPr>
            <a:r>
              <a:t>Forecasting, sentiment analysis, network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2519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Enterprise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1900" y="4663440"/>
            <a:ext cx="2667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100">
                <a:solidFill>
                  <a:srgbClr val="212121"/>
                </a:solidFill>
              </a:defRPr>
            </a:pPr>
            <a:r>
              <a:t>Data warehouse, multi-source integration</a:t>
            </a:r>
          </a:p>
        </p:txBody>
      </p:sp>
      <p:pic>
        <p:nvPicPr>
          <p:cNvPr id="21" name="Graphic 21" descr="Machine lear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320800"/>
            <a:ext cx="558800" cy="558800"/>
          </a:xfrm>
          <a:prstGeom prst="rect">
            <a:avLst/>
          </a:prstGeom>
        </p:spPr>
      </p:pic>
      <p:pic>
        <p:nvPicPr>
          <p:cNvPr id="22" name="Graphic 22" descr="Real-time analytic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8200" y="1320800"/>
            <a:ext cx="558800" cy="558800"/>
          </a:xfrm>
          <a:prstGeom prst="rect">
            <a:avLst/>
          </a:prstGeom>
        </p:spPr>
      </p:pic>
      <p:pic>
        <p:nvPicPr>
          <p:cNvPr id="23" name="Graphic 23" descr="Cloud deploy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1900" y="1320800"/>
            <a:ext cx="558800" cy="558800"/>
          </a:xfrm>
          <a:prstGeom prst="rect">
            <a:avLst/>
          </a:prstGeom>
        </p:spPr>
      </p:pic>
      <p:pic>
        <p:nvPicPr>
          <p:cNvPr id="24" name="Graphic 24" descr="Natural langu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3606800"/>
            <a:ext cx="558800" cy="558800"/>
          </a:xfrm>
          <a:prstGeom prst="rect">
            <a:avLst/>
          </a:prstGeom>
        </p:spPr>
      </p:pic>
      <p:pic>
        <p:nvPicPr>
          <p:cNvPr id="25" name="Graphic 25" descr="Advanced analytic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200" y="3606800"/>
            <a:ext cx="558800" cy="558800"/>
          </a:xfrm>
          <a:prstGeom prst="rect">
            <a:avLst/>
          </a:prstGeom>
        </p:spPr>
      </p:pic>
      <p:pic>
        <p:nvPicPr>
          <p:cNvPr id="26" name="Graphic 26" descr="Enterprise sca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1900" y="36068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23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Why Our Technology Stack?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A5F"/>
                </a:solidFill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6400"/>
                </a:solidFill>
              </a:defRPr>
            </a:pPr>
            <a:r>
              <a:t>✓ Easy to learn &amp; industry-standard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vs R - More accessible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A5F"/>
                </a:solidFill>
              </a:defRPr>
            </a:pPr>
            <a: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6400"/>
                </a:solidFill>
              </a:defRPr>
            </a:pPr>
            <a:r>
              <a:t>✓ Superior query performance &amp; scalability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vs NoSQL - Better for structured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A5F"/>
                </a:solidFill>
              </a:defRPr>
            </a:pPr>
            <a:r>
              <a:t>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6400"/>
                </a:solidFill>
              </a:defRPr>
            </a:pPr>
            <a:r>
              <a:t>✓ Professional dashboards &amp;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7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vs Tableau - Better MS ecosystem fit</a:t>
            </a:r>
          </a:p>
        </p:txBody>
      </p:sp>
    </p:spTree>
    <p:extLst>
      <p:ext uri="{BB962C8B-B14F-4D97-AF65-F5344CB8AC3E}">
        <p14:creationId xmlns:p14="http://schemas.microsoft.com/office/powerpoint/2010/main" val="1318548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70000"/>
            <a:ext cx="7680960" cy="497840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212121"/>
                </a:solidFill>
              </a:rPr>
              <a:t>Retail Marketing Optimization Systems demonstrates a complete, end-to-end data analytics workflow built with Python, SQL, and Power BI.</a:t>
            </a:r>
          </a:p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700" b="1" dirty="0">
                <a:solidFill>
                  <a:srgbClr val="1F3A5F"/>
                </a:solidFill>
              </a:rPr>
              <a:t>✓ Transforms raw data into actionable business intelligence</a:t>
            </a:r>
          </a:p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700" b="1" dirty="0">
                <a:solidFill>
                  <a:srgbClr val="1F3A5F"/>
                </a:solidFill>
              </a:rPr>
              <a:t>✓ Follows industry-standard practices and methodologies</a:t>
            </a:r>
          </a:p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700" b="1" dirty="0">
                <a:solidFill>
                  <a:srgbClr val="1F3A5F"/>
                </a:solidFill>
              </a:rPr>
              <a:t>✓ Provides a foundation for enterprise-scale analytics</a:t>
            </a:r>
          </a:p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700" b="1" dirty="0">
                <a:solidFill>
                  <a:srgbClr val="1F3A5F"/>
                </a:solidFill>
              </a:rPr>
              <a:t>✓ Addresses real-world business challenges effectively</a:t>
            </a:r>
          </a:p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212121"/>
                </a:solidFill>
              </a:rPr>
              <a:t>Together, these technologies support informed decision-making and sustained business growth.</a:t>
            </a:r>
          </a:p>
        </p:txBody>
      </p:sp>
    </p:spTree>
    <p:extLst>
      <p:ext uri="{BB962C8B-B14F-4D97-AF65-F5344CB8AC3E}">
        <p14:creationId xmlns:p14="http://schemas.microsoft.com/office/powerpoint/2010/main" val="556080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Project Resources &amp;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8400" y="1371600"/>
            <a:ext cx="175310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A5F"/>
                </a:solidFill>
              </a:defRPr>
            </a:pPr>
            <a:r>
              <a:rPr lang="en-US" sz="1600" b="1" dirty="0">
                <a:solidFill>
                  <a:srgbClr val="1F3A5F"/>
                </a:solidFill>
              </a:rPr>
              <a:t>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212121"/>
                </a:solidFill>
              </a:defRPr>
            </a:pPr>
            <a:r>
              <a:t>https://github.com/Nehal6787/Retail-Marketing-Optimization-Systems.git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6460" y="2573923"/>
            <a:ext cx="16369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A5F"/>
                </a:solidFill>
              </a:defRPr>
            </a:pPr>
            <a:r>
              <a:rPr lang="en-US" sz="1600" b="1" dirty="0">
                <a:solidFill>
                  <a:srgbClr val="1F3A5F"/>
                </a:solidFill>
              </a:rPr>
              <a:t>Complete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573923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212121"/>
                </a:solidFill>
              </a:defRPr>
            </a:pPr>
            <a:r>
              <a:rPr dirty="0"/>
              <a:t>Final_MCA_Project_Report.pdf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6460" y="3797367"/>
            <a:ext cx="12458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A5F"/>
                </a:solidFill>
              </a:defRPr>
            </a:pPr>
            <a:r>
              <a:rPr lang="en-US" sz="1600" b="1" dirty="0">
                <a:solidFill>
                  <a:srgbClr val="1F3A5F"/>
                </a:solidFill>
              </a:rPr>
              <a:t>Source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797367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212121"/>
                </a:solidFill>
              </a:defRPr>
            </a:pPr>
            <a:r>
              <a:rPr dirty="0"/>
              <a:t>All Python scripts and SQL queries included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8400" y="5029200"/>
            <a:ext cx="91832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A5F"/>
                </a:solidFill>
              </a:defRPr>
            </a:pPr>
            <a:r>
              <a:rPr lang="en-US" sz="1600" b="1" dirty="0">
                <a:solidFill>
                  <a:srgbClr val="1F3A5F"/>
                </a:solidFill>
              </a:rPr>
              <a:t>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029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212121"/>
                </a:solidFill>
              </a:defRPr>
            </a:pPr>
            <a:r>
              <a:t>3,900 customer records with 18 attributes</a:t>
            </a:r>
          </a:p>
        </p:txBody>
      </p:sp>
      <p:pic>
        <p:nvPicPr>
          <p:cNvPr id="13" name="Graphic 13" descr="GitHub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371600"/>
            <a:ext cx="355600" cy="355600"/>
          </a:xfrm>
          <a:prstGeom prst="rect">
            <a:avLst/>
          </a:prstGeom>
        </p:spPr>
      </p:pic>
      <p:pic>
        <p:nvPicPr>
          <p:cNvPr id="15" name="Graphic 15" descr="Repor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2427448"/>
            <a:ext cx="355600" cy="355600"/>
          </a:xfrm>
          <a:prstGeom prst="rect">
            <a:avLst/>
          </a:prstGeom>
        </p:spPr>
      </p:pic>
      <p:pic>
        <p:nvPicPr>
          <p:cNvPr id="16" name="Graphic 16" descr="Source cod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3797367"/>
            <a:ext cx="355600" cy="355600"/>
          </a:xfrm>
          <a:prstGeom prst="rect">
            <a:avLst/>
          </a:prstGeom>
        </p:spPr>
      </p:pic>
      <p:pic>
        <p:nvPicPr>
          <p:cNvPr id="17" name="Graphic 17" descr="Dataset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" y="50292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47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3A5F"/>
            </a:gs>
            <a:gs pos="100000">
              <a:srgbClr val="14273F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4A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4A8DB"/>
                </a:solidFill>
              </a:defRPr>
            </a:pPr>
            <a:r>
              <a:t>Retail Marketing Optimization Systems</a:t>
            </a:r>
          </a:p>
          <a:p>
            <a:br/>
            <a:r>
              <a:t>Nehal Ojha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Roll No: O24MCA110853</a:t>
            </a:r>
          </a:p>
          <a:p>
            <a:pPr algn="ctr">
              <a:defRPr sz="1600">
                <a:solidFill>
                  <a:srgbClr val="C8C8C8"/>
                </a:solidFill>
              </a:defRPr>
            </a:pPr>
            <a:r>
              <a:t>Chandigarh University | June 2026</a:t>
            </a:r>
          </a:p>
        </p:txBody>
      </p:sp>
    </p:spTree>
    <p:extLst>
      <p:ext uri="{BB962C8B-B14F-4D97-AF65-F5344CB8AC3E}">
        <p14:creationId xmlns:p14="http://schemas.microsoft.com/office/powerpoint/2010/main" val="3096452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135F97-E1B3-4F0E-A893-E2F67958CCA7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dd990793-bb76-4ab0-b831-fb4eccb3b8a2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1666</Words>
  <Application>Microsoft Office PowerPoint</Application>
  <PresentationFormat>On-screen Show (4:3)</PresentationFormat>
  <Paragraphs>277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Sarkar, Sourajit</cp:lastModifiedBy>
  <cp:revision>4</cp:revision>
  <dcterms:created xsi:type="dcterms:W3CDTF">2013-01-27T09:14:16Z</dcterms:created>
  <dcterms:modified xsi:type="dcterms:W3CDTF">2026-07-10T20:16:58Z</dcterms:modified>
  <cp:category/>
</cp:coreProperties>
</file>